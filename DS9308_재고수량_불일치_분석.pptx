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99bcdc30-dded-a574-de4c-0611eae94587}">
          <p14:sldIdLst>
            <p14:sldId id="256"/>
            <p14:sldId id="257"/>
          </p14:sldIdLst>
        </p14:section>
        <p14:section name="화면별 비교" id="{927c0ae3-9c39-3b3b-4af5-298ccf55986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원인과 조치" id="{9363df56-2d21-e26b-63d4-87228551cc6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판매재고관리 시스템에서 DS9308(바코드스캐너) 재고를 화면마다 확인했을 때 수량이 다르게 나오는 부분을 캡처 기준으로 정리한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기준값은 재고현황 팝업 상단의 상품정보 패널(전일재고 33, 입고 +100, 출고 -109, 현재고 24). 전체내역과 출고내역 탭은 리스트를 직접 더해도 일치합니다. 참고: 전체내역 캡처의 조회 시작일은 2025-02-13, 나머지는 2025-01-01이지만 전일재고 33으로 동일해 결과에는 영향이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상품정보 패널의 기준값. 주황 박스: 이 캡처만 조회 시작일이 2025-02-13(다른 탭은 2025-01-01). 전일재고가 33으로 같아 결과 차이는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입고 탭은 발주매입·출고반입만 보여주고 재고조정 유형은 빠지는 것으로 보입니다. 상단 패널(A)은 재고조정을 포함한 +100을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1~16행은 캡처에 없어 정확한 원인은 확정할 수 없습니다. 전체내역 기준 1~16행에 해당하는 거래는 15건(입고 15, 출고 40)입니다. TOTAL 행이 취소·삭제 건이나 다른 조건의 거래를 함께 더하는지 확인이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DD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DS9308 재고 수량 불일치 분석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DS9308 재고 수량 불일치 분석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D"/>
                </a:solidFill>
              </a:rPr>
              <a:t>판매재고관리 5개 화면의 입고·출고·현재고 수량 비교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DD"/>
                </a:solidFill>
              </a:rPr>
              <a:t>조회기간 2025.01.01 ~ 2026.10.21  |  작성일 2026.10.21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한눈에 보기: 6개 수치 중 3곳이 기준과 다름</a:t>
            </a:r>
            <a:endParaRPr lang="en-US" sz="2800" dirty="0"/>
          </a:p>
        </p:txBody>
      </p:sp>
      <p:graphicFrame>
        <p:nvGraphicFramePr>
          <p:cNvPr id="3" name="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"/>
                <a:gridCol w="822960"/>
                <a:gridCol w="914400"/>
                <a:gridCol w="1417320"/>
                <a:gridCol w="41879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화면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입고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출고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현재고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차이 원인(캡처 기준)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재고현황 상단 요약 (기준값)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기준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전일재고 33 + 100 - 109 = 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① 전체내역 탭 · 리스트 합계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34건, 상단 요약과 동일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② 입고내역 탭 · 리스트 합계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-1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재고조정 +1(25/11/28)이 입고 탭에 안 보임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③ 출고내역 탭 · 리스트 합계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24건, 상단 요약과 동일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④ 입출고통계 · TOTAL 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+10 / +7 / +3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같은 화면 맨 아래 합계는 100 / 109 / 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⑤ 출고현황 출고리스트(판매+렌탈)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+63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렌탈 20 · 재고 미등록 출고 19 · 이상 행 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4800600"/>
            <a:ext cx="363016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919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-1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559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입고 탭 누락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재고조정 1건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279392" y="4800600"/>
            <a:ext cx="363016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07992" y="4919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+10 / +7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507992" y="5559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입출고통계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입고 / 출고 과다 집계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8101584" y="4800600"/>
            <a:ext cx="363016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30184" y="4919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+63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330184" y="5559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출고리스트 초과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172 vs 109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① 전체내역 탭: 리스트 합계 100 / 109로 상단 요약과 일치</a:t>
            </a:r>
            <a:endParaRPr lang="en-US" sz="2800" dirty="0"/>
          </a:p>
        </p:txBody>
      </p:sp>
      <p:sp>
        <p:nvSpPr>
          <p:cNvPr id="3" name="img1 frame"/>
          <p:cNvSpPr/>
          <p:nvPr/>
        </p:nvSpPr>
        <p:spPr>
          <a:xfrm>
            <a:off x="457200" y="1188720"/>
            <a:ext cx="5120640" cy="3719857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4" name="img1" descr="img1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719857"/>
          </a:xfrm>
          <a:prstGeom prst="rect">
            <a:avLst/>
          </a:prstGeom>
        </p:spPr>
      </p:pic>
      <p:sp>
        <p:nvSpPr>
          <p:cNvPr id="5" name="mark box"/>
          <p:cNvSpPr/>
          <p:nvPr/>
        </p:nvSpPr>
        <p:spPr>
          <a:xfrm>
            <a:off x="519457" y="3201697"/>
            <a:ext cx="1307397" cy="581066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mark tag"/>
          <p:cNvSpPr/>
          <p:nvPr/>
        </p:nvSpPr>
        <p:spPr>
          <a:xfrm>
            <a:off x="190273" y="334592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0273" y="33459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mark box"/>
          <p:cNvSpPr/>
          <p:nvPr/>
        </p:nvSpPr>
        <p:spPr>
          <a:xfrm>
            <a:off x="965632" y="1655648"/>
            <a:ext cx="1271081" cy="145266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9" name="img2 frame"/>
          <p:cNvSpPr/>
          <p:nvPr/>
        </p:nvSpPr>
        <p:spPr>
          <a:xfrm>
            <a:off x="5760720" y="1188720"/>
            <a:ext cx="3291840" cy="2256994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10" name="img2" descr="img2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3291840" cy="2256994"/>
          </a:xfrm>
          <a:prstGeom prst="rect">
            <a:avLst/>
          </a:prstGeom>
        </p:spPr>
      </p:pic>
      <p:sp>
        <p:nvSpPr>
          <p:cNvPr id="11" name="img3 frame"/>
          <p:cNvSpPr/>
          <p:nvPr/>
        </p:nvSpPr>
        <p:spPr>
          <a:xfrm>
            <a:off x="5760720" y="3566160"/>
            <a:ext cx="3291840" cy="1433468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12" name="img3" descr="img3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566160"/>
            <a:ext cx="3291840" cy="14334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5001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캡처 3장 (스크롤 이어붙임) · 조회기간 2025.02.13~2026.10.21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9235440" y="1188720"/>
            <a:ext cx="2496312" cy="2203704"/>
          </a:xfrm>
          <a:prstGeom prst="roundRect">
            <a:avLst>
              <a:gd name="adj" fmla="val 332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418320" y="13258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리스트 직접 합산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9418320" y="1737360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입고 합계 (10건)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418320" y="195681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= +100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418320" y="230428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출고 합계 (24건)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9418320" y="252374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109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= -109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9418320" y="28712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33 + 100 - 109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418320" y="30906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24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= 현재고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입고 100의 구성</a:t>
            </a:r>
            <a:endParaRPr lang="en-US" sz="1300" dirty="0"/>
          </a:p>
        </p:txBody>
      </p:sp>
      <p:sp>
        <p:nvSpPr>
          <p:cNvPr id="23" name="comp 발주매입 37"/>
          <p:cNvSpPr/>
          <p:nvPr/>
        </p:nvSpPr>
        <p:spPr>
          <a:xfrm>
            <a:off x="457200" y="5715000"/>
            <a:ext cx="2808122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7200" y="5715000"/>
            <a:ext cx="2808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발주매입 37</a:t>
            </a:r>
            <a:endParaRPr lang="en-US" sz="1200" dirty="0"/>
          </a:p>
        </p:txBody>
      </p:sp>
      <p:sp>
        <p:nvSpPr>
          <p:cNvPr id="25" name="comp 출고반입 62 (반품·회수)"/>
          <p:cNvSpPr/>
          <p:nvPr/>
        </p:nvSpPr>
        <p:spPr>
          <a:xfrm>
            <a:off x="3265322" y="5715000"/>
            <a:ext cx="4705502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265322" y="5715000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출고반입 62 (반품·회수)</a:t>
            </a:r>
            <a:endParaRPr lang="en-US" sz="1200" dirty="0"/>
          </a:p>
        </p:txBody>
      </p:sp>
      <p:sp>
        <p:nvSpPr>
          <p:cNvPr id="27" name="comp 조정 1"/>
          <p:cNvSpPr/>
          <p:nvPr/>
        </p:nvSpPr>
        <p:spPr>
          <a:xfrm>
            <a:off x="7970825" y="5715000"/>
            <a:ext cx="109728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138160" y="5715000"/>
            <a:ext cx="1188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← 재고조정 1</a:t>
            </a:r>
            <a:endParaRPr lang="en-US" sz="1100" dirty="0"/>
          </a:p>
        </p:txBody>
      </p:sp>
      <p:sp>
        <p:nvSpPr>
          <p:cNvPr id="29" name="card"/>
          <p:cNvSpPr/>
          <p:nvPr/>
        </p:nvSpPr>
        <p:spPr>
          <a:xfrm>
            <a:off x="9235440" y="3621024"/>
            <a:ext cx="2496312" cy="1463040"/>
          </a:xfrm>
          <a:prstGeom prst="roundRect">
            <a:avLst>
              <a:gd name="adj" fmla="val 5000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372600" y="3712464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입고 100 중 실제 매입은 37개뿐. 나머지 62개는 출고반입(반품·회수)이 입고로 합산된 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② 입고내역 탭: 리스트 합계 99, 상단 입고수량 +100과 1개 차이</a:t>
            </a:r>
            <a:endParaRPr lang="en-US" sz="2800" dirty="0"/>
          </a:p>
        </p:txBody>
      </p:sp>
      <p:sp>
        <p:nvSpPr>
          <p:cNvPr id="3" name="img4 frame"/>
          <p:cNvSpPr/>
          <p:nvPr/>
        </p:nvSpPr>
        <p:spPr>
          <a:xfrm>
            <a:off x="457200" y="1188720"/>
            <a:ext cx="5120640" cy="3720344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4" name="img4" descr="img4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720344"/>
          </a:xfrm>
          <a:prstGeom prst="rect">
            <a:avLst/>
          </a:prstGeom>
        </p:spPr>
      </p:pic>
      <p:sp>
        <p:nvSpPr>
          <p:cNvPr id="5" name="mark box"/>
          <p:cNvSpPr/>
          <p:nvPr/>
        </p:nvSpPr>
        <p:spPr>
          <a:xfrm>
            <a:off x="550209" y="3203906"/>
            <a:ext cx="1302120" cy="155014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mark tag"/>
          <p:cNvSpPr/>
          <p:nvPr/>
        </p:nvSpPr>
        <p:spPr>
          <a:xfrm>
            <a:off x="221025" y="3135109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1025" y="31351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img5 frame"/>
          <p:cNvSpPr/>
          <p:nvPr/>
        </p:nvSpPr>
        <p:spPr>
          <a:xfrm>
            <a:off x="457200" y="5074920"/>
            <a:ext cx="3566160" cy="1195361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9" name="img5" descr="img5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74920"/>
            <a:ext cx="3566160" cy="11953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60520" y="576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입고 탭 캡처 2장 · 9건</a:t>
            </a:r>
            <a:endParaRPr lang="en-US" sz="1100" dirty="0"/>
          </a:p>
        </p:txBody>
      </p:sp>
      <p:graphicFrame>
        <p:nvGraphicFramePr>
          <p:cNvPr id="5" name="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88720"/>
          <a:ext cx="59253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28800"/>
                <a:gridCol w="1143000"/>
                <a:gridCol w="996696"/>
                <a:gridCol w="99669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일자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전체 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입고 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25/03/11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서울지방세무사회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출고반입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25/10/01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아이디에스글로벌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발주매입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25/11/26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아이디에스글로벌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발주매입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25/11/28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재고조정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재고조정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없음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25/12/10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솔바텍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출고반입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26/03/06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솔바텍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출고반입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26/04/24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쇼다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출고반입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26/05/26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아이디에스글로벌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발주매입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26/06/05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솔바텍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출고반입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26/06/25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에이치앤티코리아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출고반입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card"/>
          <p:cNvSpPr/>
          <p:nvPr/>
        </p:nvSpPr>
        <p:spPr>
          <a:xfrm>
            <a:off x="5806440" y="5440680"/>
            <a:ext cx="5925312" cy="731520"/>
          </a:xfrm>
          <a:prstGeom prst="roundRect">
            <a:avLst>
              <a:gd name="adj" fmla="val 10000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0" y="5440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원인: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재고조정 +1은 상단 입고수량(+100)에는 들어가지만 입고 탭 목록에는 표시되지 않음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③ 출고내역 탭: 24건 합계 109로 상단 출고수량과 일치</a:t>
            </a:r>
            <a:endParaRPr lang="en-US" sz="2800" dirty="0"/>
          </a:p>
        </p:txBody>
      </p:sp>
      <p:sp>
        <p:nvSpPr>
          <p:cNvPr id="3" name="img6 frame"/>
          <p:cNvSpPr/>
          <p:nvPr/>
        </p:nvSpPr>
        <p:spPr>
          <a:xfrm>
            <a:off x="457200" y="1188720"/>
            <a:ext cx="5120640" cy="3187443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4" name="img6" descr="img6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187443"/>
          </a:xfrm>
          <a:prstGeom prst="rect">
            <a:avLst/>
          </a:prstGeom>
        </p:spPr>
      </p:pic>
      <p:sp>
        <p:nvSpPr>
          <p:cNvPr id="5" name="mark box"/>
          <p:cNvSpPr/>
          <p:nvPr/>
        </p:nvSpPr>
        <p:spPr>
          <a:xfrm>
            <a:off x="550491" y="3375876"/>
            <a:ext cx="1306074" cy="155485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mark tag"/>
          <p:cNvSpPr/>
          <p:nvPr/>
        </p:nvSpPr>
        <p:spPr>
          <a:xfrm>
            <a:off x="221307" y="330731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1307" y="33073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img7 frame"/>
          <p:cNvSpPr/>
          <p:nvPr/>
        </p:nvSpPr>
        <p:spPr>
          <a:xfrm>
            <a:off x="5760720" y="1188720"/>
            <a:ext cx="3657600" cy="2440112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9" name="img7" descr="img7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3657600" cy="24401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출고 탭 캡처 2장 (25/02/13 ~ 26/10/13)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9601200" y="1188720"/>
            <a:ext cx="2130552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84080" y="132588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리스트 직접 합산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173736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출고 합계 (24건)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784080" y="195681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109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= -109</a:t>
            </a:r>
            <a:endParaRPr lang="en-US" sz="1600" dirty="0"/>
          </a:p>
        </p:txBody>
      </p:sp>
      <p:sp>
        <p:nvSpPr>
          <p:cNvPr id="15" name="badge"/>
          <p:cNvSpPr/>
          <p:nvPr/>
        </p:nvSpPr>
        <p:spPr>
          <a:xfrm>
            <a:off x="9601200" y="2441448"/>
            <a:ext cx="213055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0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일치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457200" y="4846320"/>
            <a:ext cx="1127455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493776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참고: 109는 '총 출고' 기준입니다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출고 후 되돌아온 수량(출고반입)은 출고에서 빼지 않고 입고로 따로 더합니다. 예) 서울지방세무사회 25/02/27 출고 8 → 25/03/11 반입 8, 에이치앤티코리아 26/06/11 출고 6 → 26/06/25 반입 6. 그래서 출고 109·입고 100 모두 실제 판매·매입보다 크게 보입니다.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④ 입출고통계: 같은 화면 안에서 TOTAL 행과 맨 아래 합계가 다름</a:t>
            </a:r>
            <a:endParaRPr lang="en-US" sz="2800" dirty="0"/>
          </a:p>
        </p:txBody>
      </p:sp>
      <p:sp>
        <p:nvSpPr>
          <p:cNvPr id="3" name="img8 frame"/>
          <p:cNvSpPr/>
          <p:nvPr/>
        </p:nvSpPr>
        <p:spPr>
          <a:xfrm>
            <a:off x="457200" y="1188720"/>
            <a:ext cx="7680960" cy="4481514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4" name="img8" descr="img8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680960" cy="4481514"/>
          </a:xfrm>
          <a:prstGeom prst="rect">
            <a:avLst/>
          </a:prstGeom>
        </p:spPr>
      </p:pic>
      <p:sp>
        <p:nvSpPr>
          <p:cNvPr id="5" name="mark box"/>
          <p:cNvSpPr/>
          <p:nvPr/>
        </p:nvSpPr>
        <p:spPr>
          <a:xfrm>
            <a:off x="5516789" y="2150271"/>
            <a:ext cx="1533903" cy="154535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mark tag"/>
          <p:cNvSpPr/>
          <p:nvPr/>
        </p:nvSpPr>
        <p:spPr>
          <a:xfrm>
            <a:off x="7087268" y="208123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87268" y="20812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mark box"/>
          <p:cNvSpPr/>
          <p:nvPr/>
        </p:nvSpPr>
        <p:spPr>
          <a:xfrm>
            <a:off x="5516789" y="5515699"/>
            <a:ext cx="1533903" cy="154535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9" name="mark tag"/>
          <p:cNvSpPr/>
          <p:nvPr/>
        </p:nvSpPr>
        <p:spPr>
          <a:xfrm>
            <a:off x="7087268" y="544666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7268" y="54466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715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입출고통계 · 품목명 DS9308 · 2025.01.01~2026.10.21 (17~36행만 캡처됨)</a:t>
            </a:r>
            <a:endParaRPr lang="en-US" sz="1100" dirty="0"/>
          </a:p>
        </p:txBody>
      </p:sp>
      <p:graphicFrame>
        <p:nvGraphicFramePr>
          <p:cNvPr id="7" name="stat comp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1188720"/>
          <a:ext cx="32735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777240"/>
                <a:gridCol w="941832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①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② 하단 합계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차이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전일재고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입고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현재고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card"/>
          <p:cNvSpPr/>
          <p:nvPr/>
        </p:nvSpPr>
        <p:spPr>
          <a:xfrm>
            <a:off x="8458200" y="3246120"/>
            <a:ext cx="327355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595360" y="33375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②(100/109/24)는 다른 화면들과 일치, ①만 다름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TOTAL 기준 33 + 110 - 116 = 27 → 실제 현재고 24와 3개 차이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17~35행 19건은 전체내역과 1:1 일치 → 차이는 캡처 안 된 1~16행 또는 TOTAL 집계 방식에서 발생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⑤ 출고리스트(판매+렌탈): 합계 172, 재고 출고보다 +63</a:t>
            </a:r>
            <a:endParaRPr lang="en-US" sz="2800" dirty="0"/>
          </a:p>
        </p:txBody>
      </p:sp>
      <p:sp>
        <p:nvSpPr>
          <p:cNvPr id="3" name="img9 frame"/>
          <p:cNvSpPr/>
          <p:nvPr/>
        </p:nvSpPr>
        <p:spPr>
          <a:xfrm>
            <a:off x="457200" y="1188720"/>
            <a:ext cx="7863840" cy="3970421"/>
          </a:xfrm>
          <a:prstGeom prst="rect">
            <a:avLst/>
          </a:prstGeom>
          <a:solidFill>
            <a:schemeClr val="bg1"/>
          </a:solidFill>
          <a:ln w="9525">
            <a:solidFill>
              <a:srgbClr val="C5CED8"/>
            </a:solidFill>
            <a:prstDash val="solid"/>
          </a:ln>
        </p:spPr>
      </p:sp>
      <p:pic>
        <p:nvPicPr>
          <p:cNvPr id="4" name="img9" descr="img9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3970421"/>
          </a:xfrm>
          <a:prstGeom prst="rect">
            <a:avLst/>
          </a:prstGeom>
        </p:spPr>
      </p:pic>
      <p:sp>
        <p:nvSpPr>
          <p:cNvPr id="5" name="highlight"/>
          <p:cNvSpPr/>
          <p:nvPr/>
        </p:nvSpPr>
        <p:spPr>
          <a:xfrm>
            <a:off x="601579" y="2541069"/>
            <a:ext cx="3493971" cy="96253"/>
          </a:xfrm>
          <a:prstGeom prst="rect">
            <a:avLst/>
          </a:prstGeom>
          <a:solidFill>
            <a:schemeClr val="accent3">
              <a:alpha val="4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601579" y="2829827"/>
            <a:ext cx="3493971" cy="96253"/>
          </a:xfrm>
          <a:prstGeom prst="rect">
            <a:avLst/>
          </a:prstGeom>
          <a:solidFill>
            <a:schemeClr val="accent3">
              <a:alpha val="4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highlight"/>
          <p:cNvSpPr/>
          <p:nvPr/>
        </p:nvSpPr>
        <p:spPr>
          <a:xfrm>
            <a:off x="601579" y="2926080"/>
            <a:ext cx="3493971" cy="96253"/>
          </a:xfrm>
          <a:prstGeom prst="rect">
            <a:avLst/>
          </a:prstGeom>
          <a:solidFill>
            <a:schemeClr val="accent3">
              <a:alpha val="4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highlight"/>
          <p:cNvSpPr/>
          <p:nvPr/>
        </p:nvSpPr>
        <p:spPr>
          <a:xfrm>
            <a:off x="601579" y="2637322"/>
            <a:ext cx="3493971" cy="96253"/>
          </a:xfrm>
          <a:prstGeom prst="rect">
            <a:avLst/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highlight"/>
          <p:cNvSpPr/>
          <p:nvPr/>
        </p:nvSpPr>
        <p:spPr>
          <a:xfrm>
            <a:off x="601579" y="3888606"/>
            <a:ext cx="3493971" cy="96253"/>
          </a:xfrm>
          <a:prstGeom prst="rect">
            <a:avLst/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highlight"/>
          <p:cNvSpPr/>
          <p:nvPr/>
        </p:nvSpPr>
        <p:spPr>
          <a:xfrm>
            <a:off x="601579" y="4081112"/>
            <a:ext cx="3493971" cy="96253"/>
          </a:xfrm>
          <a:prstGeom prst="rect">
            <a:avLst/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highlight"/>
          <p:cNvSpPr/>
          <p:nvPr/>
        </p:nvSpPr>
        <p:spPr>
          <a:xfrm>
            <a:off x="601579" y="4273617"/>
            <a:ext cx="3493971" cy="96253"/>
          </a:xfrm>
          <a:prstGeom prst="rect">
            <a:avLst/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highlight"/>
          <p:cNvSpPr/>
          <p:nvPr/>
        </p:nvSpPr>
        <p:spPr>
          <a:xfrm>
            <a:off x="601579" y="4466122"/>
            <a:ext cx="3493971" cy="96253"/>
          </a:xfrm>
          <a:prstGeom prst="rect">
            <a:avLst/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highlight"/>
          <p:cNvSpPr/>
          <p:nvPr/>
        </p:nvSpPr>
        <p:spPr>
          <a:xfrm>
            <a:off x="601579" y="4562375"/>
            <a:ext cx="3493971" cy="96253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ark box"/>
          <p:cNvSpPr/>
          <p:nvPr/>
        </p:nvSpPr>
        <p:spPr>
          <a:xfrm>
            <a:off x="7849402" y="5038825"/>
            <a:ext cx="356135" cy="105878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5" name="mark tag"/>
          <p:cNvSpPr/>
          <p:nvPr/>
        </p:nvSpPr>
        <p:spPr>
          <a:xfrm>
            <a:off x="7520218" y="494546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20218" y="49454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257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엑셀 다운로드 · 연도 표기 없음(순서상 02-13~11-28은 2025년, 01-02 이후는 2026년)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11887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172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 vs 109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18745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출고리스트 합계 vs 재고 출고수량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8595360" y="2377440"/>
            <a:ext cx="313639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gend swatch"/>
          <p:cNvSpPr/>
          <p:nvPr/>
        </p:nvSpPr>
        <p:spPr>
          <a:xfrm>
            <a:off x="8732520" y="2606040"/>
            <a:ext cx="274320" cy="274320"/>
          </a:xfrm>
          <a:prstGeom prst="rect">
            <a:avLst/>
          </a:prstGeom>
          <a:solidFill>
            <a:schemeClr val="accent4">
              <a:alpha val="7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0" y="245059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렌탈 출고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재고 화면에 없음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927080" y="24505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+20</a:t>
            </a:r>
            <a:endParaRPr lang="en-US" sz="2000" dirty="0"/>
          </a:p>
        </p:txBody>
      </p:sp>
      <p:sp>
        <p:nvSpPr>
          <p:cNvPr id="24" name="card"/>
          <p:cNvSpPr/>
          <p:nvPr/>
        </p:nvSpPr>
        <p:spPr>
          <a:xfrm>
            <a:off x="8595360" y="3246120"/>
            <a:ext cx="313639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legend swatch"/>
          <p:cNvSpPr/>
          <p:nvPr/>
        </p:nvSpPr>
        <p:spPr>
          <a:xfrm>
            <a:off x="8732520" y="3474720"/>
            <a:ext cx="274320" cy="274320"/>
          </a:xfrm>
          <a:prstGeom prst="rect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0" y="33192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품목 'DS9308' 출고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재고 화면에 없음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927080" y="331927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+19</a:t>
            </a:r>
            <a:endParaRPr lang="en-US" sz="2000" dirty="0"/>
          </a:p>
        </p:txBody>
      </p:sp>
      <p:sp>
        <p:nvSpPr>
          <p:cNvPr id="28" name="card"/>
          <p:cNvSpPr/>
          <p:nvPr/>
        </p:nvSpPr>
        <p:spPr>
          <a:xfrm>
            <a:off x="8595360" y="4114800"/>
            <a:ext cx="313639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legend swatch"/>
          <p:cNvSpPr/>
          <p:nvPr/>
        </p:nvSpPr>
        <p:spPr>
          <a:xfrm>
            <a:off x="8732520" y="4343400"/>
            <a:ext cx="274320" cy="27432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0" y="41879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날짜·거래처 없는 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현재고와 같은 수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927080" y="418795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+24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502920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109 + 20 + 19 + 24 = 172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53949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나머지 24건(합계 109)은 출고 탭과 1:1 일치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출고리스트에만 있는 9개 행 = 63개</a:t>
            </a:r>
            <a:endParaRPr lang="en-US" sz="2800" dirty="0"/>
          </a:p>
        </p:txBody>
      </p:sp>
      <p:graphicFrame>
        <p:nvGraphicFramePr>
          <p:cNvPr id="9" name="extra row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34440"/>
                <a:gridCol w="1874520"/>
                <a:gridCol w="2011680"/>
                <a:gridCol w="731520"/>
                <a:gridCol w="731520"/>
                <a:gridCol w="41422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출고일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구매자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품목내역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수량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재고 화면과 비교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2025-09-25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(구매자 없음)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품목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재고 출고 기록 없음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2025-10-13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마이디어스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 렌탈 7일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렌탈은 재고에서 차감 안 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2025-10-27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웰비아이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품목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재고 출고 기록 없음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2025-11-13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(구매자 없음)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품목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재고 출고 기록 없음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2026-06-11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에이치앤티코리아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 렌탈(본체)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같은 날 재고 출고는 USB 6개만 있음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2026-09-04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웨비나스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 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렌탈은 재고에서 차감 안 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2026-10-12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디3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 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렌탈은 재고에서 차감 안 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2026-10-21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디3 (서호알에스)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 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렌탈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렌탈은 재고에서 차감 안 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(없음)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(없음)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DS9308-USB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이상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날짜·거래처 없음, 수량 24 = 현재고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렌탈 20 + 품목 19 + 이상 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5532120"/>
            <a:ext cx="1127455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55321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품목 'DS9308'(규격 없음) 3건은 USB·RS232C·본체 구분이 없어 재고 품목과 연결되지 않았을 가능성이 있습니다. No.33(24개)은 실제 출고가 아니라 합계·메모 성격의 행으로 보입니다.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출고반입 62개 중 솔바텍 46개는 출고 기록이 없음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79192" cy="3200400"/>
          </a:xfrm>
          <a:prstGeom prst="roundRect">
            <a:avLst>
              <a:gd name="adj" fmla="val 27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서울지방세무사회</a:t>
            </a:r>
            <a:endParaRPr lang="en-US" sz="1700" dirty="0"/>
          </a:p>
        </p:txBody>
      </p:sp>
      <p:sp>
        <p:nvSpPr>
          <p:cNvPr id="5" name="out box"/>
          <p:cNvSpPr/>
          <p:nvPr/>
        </p:nvSpPr>
        <p:spPr>
          <a:xfrm>
            <a:off x="640080" y="1965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25/02/27 출고 8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1613916" y="2606040"/>
            <a:ext cx="365760" cy="411480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in box"/>
          <p:cNvSpPr/>
          <p:nvPr/>
        </p:nvSpPr>
        <p:spPr>
          <a:xfrm>
            <a:off x="640080" y="3108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25/03/11 반입 8</a:t>
            </a:r>
            <a:endParaRPr lang="en-US" sz="1400" dirty="0"/>
          </a:p>
        </p:txBody>
      </p:sp>
      <p:sp>
        <p:nvSpPr>
          <p:cNvPr id="10" name="badge"/>
          <p:cNvSpPr/>
          <p:nvPr/>
        </p:nvSpPr>
        <p:spPr>
          <a:xfrm>
            <a:off x="640080" y="3931920"/>
            <a:ext cx="231343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출고 = 반입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3328416" y="1280160"/>
            <a:ext cx="2679192" cy="3200400"/>
          </a:xfrm>
          <a:prstGeom prst="roundRect">
            <a:avLst>
              <a:gd name="adj" fmla="val 27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11296" y="1417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쇼다</a:t>
            </a:r>
            <a:endParaRPr lang="en-US" sz="1700" dirty="0"/>
          </a:p>
        </p:txBody>
      </p:sp>
      <p:sp>
        <p:nvSpPr>
          <p:cNvPr id="14" name="out box"/>
          <p:cNvSpPr/>
          <p:nvPr/>
        </p:nvSpPr>
        <p:spPr>
          <a:xfrm>
            <a:off x="3511296" y="1965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11296" y="1965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26/04/15 출고 2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4485132" y="2606040"/>
            <a:ext cx="365760" cy="411480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in box"/>
          <p:cNvSpPr/>
          <p:nvPr/>
        </p:nvSpPr>
        <p:spPr>
          <a:xfrm>
            <a:off x="3511296" y="3108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11296" y="3108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26/04/24 반입 2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3511296" y="3931920"/>
            <a:ext cx="231343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11296" y="39319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출고 = 반입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99632" y="1280160"/>
            <a:ext cx="2679192" cy="3200400"/>
          </a:xfrm>
          <a:prstGeom prst="roundRect">
            <a:avLst>
              <a:gd name="adj" fmla="val 27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1417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에이치앤티코리아</a:t>
            </a:r>
            <a:endParaRPr lang="en-US" sz="1700" dirty="0"/>
          </a:p>
        </p:txBody>
      </p:sp>
      <p:sp>
        <p:nvSpPr>
          <p:cNvPr id="23" name="out box"/>
          <p:cNvSpPr/>
          <p:nvPr/>
        </p:nvSpPr>
        <p:spPr>
          <a:xfrm>
            <a:off x="6382512" y="1965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1965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26/06/11 출고 6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7356348" y="2606040"/>
            <a:ext cx="365760" cy="411480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in box"/>
          <p:cNvSpPr/>
          <p:nvPr/>
        </p:nvSpPr>
        <p:spPr>
          <a:xfrm>
            <a:off x="6382512" y="3108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3108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26/06/25 반입 6</a:t>
            </a:r>
            <a:endParaRPr lang="en-US" sz="1400" dirty="0"/>
          </a:p>
        </p:txBody>
      </p:sp>
      <p:sp>
        <p:nvSpPr>
          <p:cNvPr id="28" name="badge"/>
          <p:cNvSpPr/>
          <p:nvPr/>
        </p:nvSpPr>
        <p:spPr>
          <a:xfrm>
            <a:off x="6382512" y="3931920"/>
            <a:ext cx="231343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39319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출고 = 반입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9070848" y="1280160"/>
            <a:ext cx="2679192" cy="3200400"/>
          </a:xfrm>
          <a:prstGeom prst="roundRect">
            <a:avLst>
              <a:gd name="adj" fmla="val 2730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53728" y="1417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솔바텍</a:t>
            </a:r>
            <a:endParaRPr lang="en-US" sz="1700" dirty="0"/>
          </a:p>
        </p:txBody>
      </p:sp>
      <p:sp>
        <p:nvSpPr>
          <p:cNvPr id="32" name="out box"/>
          <p:cNvSpPr/>
          <p:nvPr/>
        </p:nvSpPr>
        <p:spPr>
          <a:xfrm>
            <a:off x="9253728" y="1965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53728" y="1965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기간 내 출고 0</a:t>
            </a:r>
            <a:endParaRPr lang="en-US" sz="1400" dirty="0"/>
          </a:p>
        </p:txBody>
      </p:sp>
      <p:sp>
        <p:nvSpPr>
          <p:cNvPr id="34" name="arrow"/>
          <p:cNvSpPr/>
          <p:nvPr/>
        </p:nvSpPr>
        <p:spPr>
          <a:xfrm>
            <a:off x="10227564" y="2606040"/>
            <a:ext cx="365760" cy="41148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in box"/>
          <p:cNvSpPr/>
          <p:nvPr/>
        </p:nvSpPr>
        <p:spPr>
          <a:xfrm>
            <a:off x="9253728" y="3108960"/>
            <a:ext cx="2313432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53728" y="31089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반입 16 + 4 + 26 = 46</a:t>
            </a:r>
            <a:endParaRPr lang="en-US" sz="1400" dirty="0"/>
          </a:p>
        </p:txBody>
      </p:sp>
      <p:sp>
        <p:nvSpPr>
          <p:cNvPr id="37" name="badge"/>
          <p:cNvSpPr/>
          <p:nvPr/>
        </p:nvSpPr>
        <p:spPr>
          <a:xfrm>
            <a:off x="9253728" y="3931920"/>
            <a:ext cx="23134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53728" y="39319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출고 기록 없음</a:t>
            </a:r>
            <a:endParaRPr lang="en-US" sz="1200" dirty="0"/>
          </a:p>
        </p:txBody>
      </p:sp>
      <p:sp>
        <p:nvSpPr>
          <p:cNvPr id="39" name="card"/>
          <p:cNvSpPr/>
          <p:nvPr/>
        </p:nvSpPr>
        <p:spPr>
          <a:xfrm>
            <a:off x="457200" y="4800600"/>
            <a:ext cx="112745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8920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반입이 '입고'로 더해지기 때문에 입고 100 중 실제 발주매입은 37개(7 + 10 + 20)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솔바텍 반입 46개에 대응하는 출고가 조회기간 안에 없음 → 2025년 이전 출고분 회수인지, 렌탈·수리 회수인지 확인 필요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렌탈 출고가 재고에서 빠지지 않는 구조라면, 렌탈 회수분이 '출고반입'으로 들어와 재고가 실제보다 늘어날 수 있음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확인·조치가 필요한 항목</a:t>
            </a:r>
            <a:endParaRPr lang="en-US" sz="3600" dirty="0"/>
          </a:p>
        </p:txBody>
      </p:sp>
      <p:sp>
        <p:nvSpPr>
          <p:cNvPr id="3" name="step num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입고 탭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재고조정 건을 입고 목록에 표시하거나, 상단 입고수량에서 따로 표기</a:t>
            </a:r>
            <a:endParaRPr lang="en-US" sz="1300" dirty="0"/>
          </a:p>
        </p:txBody>
      </p:sp>
      <p:sp>
        <p:nvSpPr>
          <p:cNvPr id="7" name="step num"/>
          <p:cNvSpPr/>
          <p:nvPr/>
        </p:nvSpPr>
        <p:spPr>
          <a:xfrm>
            <a:off x="6217920" y="1737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입출고통계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1~16행을 캡처해 TOTAL(110/116/27)과 하단 합계(100/109/24) 차이 행 찾기 · 취소/삭제 건 포함 여부 확인</a:t>
            </a:r>
            <a:endParaRPr lang="en-US" sz="1300" dirty="0"/>
          </a:p>
        </p:txBody>
      </p:sp>
      <p:sp>
        <p:nvSpPr>
          <p:cNvPr id="11" name="step num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렌탈 20개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57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출고리스트의 렌탈 출고가 재고에서 차감되지 않음 → 렌탈도 재고 이동으로 등록할지 기준 결정</a:t>
            </a:r>
            <a:endParaRPr lang="en-US" sz="1300" dirty="0"/>
          </a:p>
        </p:txBody>
      </p:sp>
      <p:sp>
        <p:nvSpPr>
          <p:cNvPr id="15" name="step num"/>
          <p:cNvSpPr/>
          <p:nvPr/>
        </p:nvSpPr>
        <p:spPr>
          <a:xfrm>
            <a:off x="6217920" y="32918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미등록 출고 19개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657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09-25(12), 10-27 웰비아이(1), 11-13(6) 출고를 재고 시스템에 등록할지 확인</a:t>
            </a:r>
            <a:endParaRPr lang="en-US" sz="1300" dirty="0"/>
          </a:p>
        </p:txBody>
      </p:sp>
      <p:sp>
        <p:nvSpPr>
          <p:cNvPr id="19" name="step num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출고리스트 정리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12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No.33(수량 24, 날짜·거래처 없음) 행 삭제 또는 메모 처리, 빈 구매자 행 보완</a:t>
            </a:r>
            <a:endParaRPr lang="en-US" sz="1300" dirty="0"/>
          </a:p>
        </p:txBody>
      </p:sp>
      <p:sp>
        <p:nvSpPr>
          <p:cNvPr id="23" name="step num"/>
          <p:cNvSpPr/>
          <p:nvPr/>
        </p:nvSpPr>
        <p:spPr>
          <a:xfrm>
            <a:off x="6217920" y="4846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솔바텍 반입 46개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5212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원 출고 기록(기간 이전 출고, 렌탈·수리 회수 등) 확인</a:t>
            </a:r>
            <a:endParaRPr lang="en-US" sz="1300" dirty="0"/>
          </a:p>
        </p:txBody>
      </p:sp>
      <p:sp>
        <p:nvSpPr>
          <p:cNvPr id="27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ntory Audit">
  <a:themeElements>
    <a:clrScheme name="Inventory Audit">
      <a:dk1>
        <a:srgbClr val="1E2A36"/>
      </a:dk1>
      <a:lt1>
        <a:srgbClr val="FFFFFF"/>
      </a:lt1>
      <a:dk2>
        <a:srgbClr val="253746"/>
      </a:dk2>
      <a:lt2>
        <a:srgbClr val="EEF2F6"/>
      </a:lt2>
      <a:accent1>
        <a:srgbClr val="D2423B"/>
      </a:accent1>
      <a:accent2>
        <a:srgbClr val="2E8A57"/>
      </a:accent2>
      <a:accent3>
        <a:srgbClr val="E39B2D"/>
      </a:accent3>
      <a:accent4>
        <a:srgbClr val="3566B0"/>
      </a:accent4>
      <a:accent5>
        <a:srgbClr val="6B7A89"/>
      </a:accent5>
      <a:accent6>
        <a:srgbClr val="FFE58A"/>
      </a:accent6>
      <a:hlink>
        <a:srgbClr val="3566B0"/>
      </a:hlink>
      <a:folHlink>
        <a:srgbClr val="6B7A89"/>
      </a:folHlink>
    </a:clrScheme>
    <a:fontScheme name="Inventory Audi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DS9308 재고 수량 불일치 분석</dc:title>
  <dc:subject>PptxGenJS Presentation</dc:subject>
  <dc:creator>PptxGenJS</dc:creator>
  <cp:lastModifiedBy>PptxGenJS</cp:lastModifiedBy>
  <cp:revision>1</cp:revision>
  <dcterms:created xsi:type="dcterms:W3CDTF">2026-10-21T05:11:08Z</dcterms:created>
  <dcterms:modified xsi:type="dcterms:W3CDTF">2026-10-21T05:11:08Z</dcterms:modified>
</cp:coreProperties>
</file>